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1027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72687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2011680"/>
            <a:ext cx="5486400" cy="5486400"/>
          </a:xfrm>
          <a:prstGeom prst="ellipse">
            <a:avLst/>
          </a:prstGeom>
          <a:solidFill>
            <a:srgbClr val="065A82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389120"/>
            <a:ext cx="4572000" cy="4572000"/>
          </a:xfrm>
          <a:prstGeom prst="ellipse">
            <a:avLst/>
          </a:prstGeom>
          <a:solidFill>
            <a:srgbClr val="1C7293">
              <a:alpha val="25000"/>
            </a:srgbClr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68580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6858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FC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DATAX LABS · DATA ANALYST INTERNSHIP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40080" y="23774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for Data Analysis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640080" y="361188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7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SQL queries across filtering, joins, subqueries, aggregation, views &amp; indexing  built on the UrbanCart e-commerce database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40080" y="4709160"/>
            <a:ext cx="3291840" cy="1234440"/>
          </a:xfrm>
          <a:prstGeom prst="roundRect">
            <a:avLst>
              <a:gd name="adj" fmla="val 7407"/>
            </a:avLst>
          </a:prstGeom>
          <a:solidFill>
            <a:srgbClr val="065A82"/>
          </a:solidFill>
          <a:ln/>
        </p:spPr>
      </p:sp>
      <p:sp>
        <p:nvSpPr>
          <p:cNvPr id="9" name="Text 6"/>
          <p:cNvSpPr/>
          <p:nvPr/>
        </p:nvSpPr>
        <p:spPr>
          <a:xfrm>
            <a:off x="914400" y="493776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7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· orders · products</a:t>
            </a:r>
            <a:endParaRPr lang="en-US" sz="1300" dirty="0"/>
          </a:p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urbancart_db  (MySQL)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206240" y="470916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4206240" y="54406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C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Solved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943600" y="470916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4000" dirty="0"/>
          </a:p>
        </p:txBody>
      </p:sp>
      <p:sp>
        <p:nvSpPr>
          <p:cNvPr id="13" name="Text 10"/>
          <p:cNvSpPr/>
          <p:nvPr/>
        </p:nvSpPr>
        <p:spPr>
          <a:xfrm>
            <a:off x="5943600" y="54406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C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680960" y="470916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15" name="Text 12"/>
          <p:cNvSpPr/>
          <p:nvPr/>
        </p:nvSpPr>
        <p:spPr>
          <a:xfrm>
            <a:off x="7680960" y="54406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C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Tables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Schema : </a:t>
            </a:r>
            <a:r>
              <a:rPr lang="en-US" sz="3000" b="1" dirty="0" err="1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urbancart_db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related tables used across all 19 queries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429000" cy="4480560"/>
          </a:xfrm>
          <a:prstGeom prst="roundRect">
            <a:avLst>
              <a:gd name="adj" fmla="val 2133"/>
            </a:avLst>
          </a:prstGeom>
          <a:solidFill>
            <a:srgbClr val="F4F8FA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54480"/>
            <a:ext cx="3429000" cy="594360"/>
          </a:xfrm>
          <a:prstGeom prst="roundRect">
            <a:avLst>
              <a:gd name="adj" fmla="val 12308"/>
            </a:avLst>
          </a:prstGeom>
          <a:solidFill>
            <a:srgbClr val="065A8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965960"/>
            <a:ext cx="3429000" cy="1828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55448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2331720"/>
            <a:ext cx="29260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customer_id (PK)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signup_date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loyalty_member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43400" y="1554480"/>
            <a:ext cx="3429000" cy="4480560"/>
          </a:xfrm>
          <a:prstGeom prst="roundRect">
            <a:avLst>
              <a:gd name="adj" fmla="val 2133"/>
            </a:avLst>
          </a:prstGeom>
          <a:solidFill>
            <a:srgbClr val="F4F8FA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43400" y="1554480"/>
            <a:ext cx="3429000" cy="594360"/>
          </a:xfrm>
          <a:prstGeom prst="roundRect">
            <a:avLst>
              <a:gd name="adj" fmla="val 12308"/>
            </a:avLst>
          </a:prstGeom>
          <a:solidFill>
            <a:srgbClr val="065A82"/>
          </a:solidFill>
          <a:ln/>
        </p:spPr>
      </p:sp>
      <p:sp>
        <p:nvSpPr>
          <p:cNvPr id="11" name="Shape 9"/>
          <p:cNvSpPr/>
          <p:nvPr/>
        </p:nvSpPr>
        <p:spPr>
          <a:xfrm>
            <a:off x="4343400" y="1965960"/>
            <a:ext cx="3429000" cy="1828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155448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17720" y="2331720"/>
            <a:ext cx="29260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order_id (PK)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customer_id (FK)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product_id (FK)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order_date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payment_method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138160" y="1554480"/>
            <a:ext cx="3429000" cy="4480560"/>
          </a:xfrm>
          <a:prstGeom prst="roundRect">
            <a:avLst>
              <a:gd name="adj" fmla="val 2133"/>
            </a:avLst>
          </a:prstGeom>
          <a:solidFill>
            <a:srgbClr val="F4F8FA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38160" y="1554480"/>
            <a:ext cx="3429000" cy="594360"/>
          </a:xfrm>
          <a:prstGeom prst="roundRect">
            <a:avLst>
              <a:gd name="adj" fmla="val 12308"/>
            </a:avLst>
          </a:prstGeom>
          <a:solidFill>
            <a:srgbClr val="065A82"/>
          </a:solidFill>
          <a:ln/>
        </p:spPr>
      </p:sp>
      <p:sp>
        <p:nvSpPr>
          <p:cNvPr id="16" name="Shape 14"/>
          <p:cNvSpPr/>
          <p:nvPr/>
        </p:nvSpPr>
        <p:spPr>
          <a:xfrm>
            <a:off x="8138160" y="1965960"/>
            <a:ext cx="3429000" cy="1828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8366760" y="155448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412480" y="2331720"/>
            <a:ext cx="29260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product_id (PK)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product_name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roundRect">
            <a:avLst>
              <a:gd name="adj" fmla="val 18667"/>
            </a:avLst>
          </a:prstGeom>
          <a:solidFill>
            <a:srgbClr val="065A82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621792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38404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 · WHERE · ORDER BY · GROUP BY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1417320" y="86868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Foundational filtering, sorting, and grouping queries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9966960" y="502920"/>
            <a:ext cx="1691640" cy="548640"/>
          </a:xfrm>
          <a:prstGeom prst="roundRect">
            <a:avLst>
              <a:gd name="adj" fmla="val 50000"/>
            </a:avLst>
          </a:prstGeom>
          <a:solidFill>
            <a:srgbClr val="E8F1F5"/>
          </a:solidFill>
          <a:ln/>
        </p:spPr>
      </p:sp>
      <p:sp>
        <p:nvSpPr>
          <p:cNvPr id="7" name="Text 4"/>
          <p:cNvSpPr/>
          <p:nvPr/>
        </p:nvSpPr>
        <p:spPr>
          <a:xfrm>
            <a:off x="9966960" y="5029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Filtering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1581912"/>
            <a:ext cx="384048" cy="384048"/>
          </a:xfrm>
          <a:prstGeom prst="ellipse">
            <a:avLst/>
          </a:prstGeom>
          <a:solidFill>
            <a:srgbClr val="F4F8FA"/>
          </a:solidFill>
          <a:ln w="15875">
            <a:solidFill>
              <a:srgbClr val="065A8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1581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097280" y="1527048"/>
            <a:ext cx="1042416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all products in the “Electronics” category, sorted by price descending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1097280" y="2672334"/>
            <a:ext cx="10332720" cy="0"/>
          </a:xfrm>
          <a:prstGeom prst="line">
            <a:avLst/>
          </a:prstGeom>
          <a:noFill/>
          <a:ln w="12700">
            <a:solidFill>
              <a:srgbClr val="DDE6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48640" y="2782062"/>
            <a:ext cx="384048" cy="384048"/>
          </a:xfrm>
          <a:prstGeom prst="ellipse">
            <a:avLst/>
          </a:prstGeom>
          <a:solidFill>
            <a:srgbClr val="F4F8FA"/>
          </a:solidFill>
          <a:ln w="15875">
            <a:solidFill>
              <a:srgbClr val="065A8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8640" y="278206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097280" y="2727198"/>
            <a:ext cx="1042416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all orders placed after a specific date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1097280" y="3872484"/>
            <a:ext cx="10332720" cy="0"/>
          </a:xfrm>
          <a:prstGeom prst="line">
            <a:avLst/>
          </a:prstGeom>
          <a:noFill/>
          <a:ln w="12700">
            <a:solidFill>
              <a:srgbClr val="DDE6E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48640" y="3982212"/>
            <a:ext cx="384048" cy="384048"/>
          </a:xfrm>
          <a:prstGeom prst="ellipse">
            <a:avLst/>
          </a:prstGeom>
          <a:solidFill>
            <a:srgbClr val="F4F8FA"/>
          </a:solidFill>
          <a:ln w="15875">
            <a:solidFill>
              <a:srgbClr val="065A8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48640" y="39822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097280" y="3927348"/>
            <a:ext cx="1042416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how many products exist per category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1097280" y="5072634"/>
            <a:ext cx="10332720" cy="0"/>
          </a:xfrm>
          <a:prstGeom prst="line">
            <a:avLst/>
          </a:prstGeom>
          <a:noFill/>
          <a:ln w="12700">
            <a:solidFill>
              <a:srgbClr val="DDE6E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48640" y="5182362"/>
            <a:ext cx="384048" cy="384048"/>
          </a:xfrm>
          <a:prstGeom prst="ellipse">
            <a:avLst/>
          </a:prstGeom>
          <a:solidFill>
            <a:srgbClr val="F4F8FA"/>
          </a:solidFill>
          <a:ln w="15875">
            <a:solidFill>
              <a:srgbClr val="065A8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48640" y="518236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1097280" y="5127498"/>
            <a:ext cx="1042416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5 most expensive products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roundRect">
            <a:avLst>
              <a:gd name="adj" fmla="val 18667"/>
            </a:avLst>
          </a:prstGeom>
          <a:solidFill>
            <a:srgbClr val="065A82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621792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38404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Joins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1417320" y="86868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customers, orders, and products across relationships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9966960" y="502920"/>
            <a:ext cx="1691640" cy="548640"/>
          </a:xfrm>
          <a:prstGeom prst="roundRect">
            <a:avLst>
              <a:gd name="adj" fmla="val 50000"/>
            </a:avLst>
          </a:prstGeom>
          <a:solidFill>
            <a:srgbClr val="E8F1F5"/>
          </a:solidFill>
          <a:ln/>
        </p:spPr>
      </p:sp>
      <p:sp>
        <p:nvSpPr>
          <p:cNvPr id="7" name="Text 4"/>
          <p:cNvSpPr/>
          <p:nvPr/>
        </p:nvSpPr>
        <p:spPr>
          <a:xfrm>
            <a:off x="9966960" y="5029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Joins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1581912"/>
            <a:ext cx="384048" cy="384048"/>
          </a:xfrm>
          <a:prstGeom prst="ellipse">
            <a:avLst/>
          </a:prstGeom>
          <a:solidFill>
            <a:srgbClr val="F4F8FA"/>
          </a:solidFill>
          <a:ln w="15875">
            <a:solidFill>
              <a:srgbClr val="065A8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1581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097280" y="1527048"/>
            <a:ext cx="1042416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each order with the customer's info (INNER JOIN)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1097280" y="2672334"/>
            <a:ext cx="10332720" cy="0"/>
          </a:xfrm>
          <a:prstGeom prst="line">
            <a:avLst/>
          </a:prstGeom>
          <a:noFill/>
          <a:ln w="12700">
            <a:solidFill>
              <a:srgbClr val="DDE6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48640" y="2782062"/>
            <a:ext cx="384048" cy="384048"/>
          </a:xfrm>
          <a:prstGeom prst="ellipse">
            <a:avLst/>
          </a:prstGeom>
          <a:solidFill>
            <a:srgbClr val="F4F8FA"/>
          </a:solidFill>
          <a:ln w="15875">
            <a:solidFill>
              <a:srgbClr val="065A8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8640" y="278206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097280" y="2727198"/>
            <a:ext cx="1042416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all customers and their orders, including customers with no orders (LEFT JOIN)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1097280" y="3872484"/>
            <a:ext cx="10332720" cy="0"/>
          </a:xfrm>
          <a:prstGeom prst="line">
            <a:avLst/>
          </a:prstGeom>
          <a:noFill/>
          <a:ln w="12700">
            <a:solidFill>
              <a:srgbClr val="DDE6E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48640" y="3982212"/>
            <a:ext cx="384048" cy="384048"/>
          </a:xfrm>
          <a:prstGeom prst="ellipse">
            <a:avLst/>
          </a:prstGeom>
          <a:solidFill>
            <a:srgbClr val="F4F8FA"/>
          </a:solidFill>
          <a:ln w="15875">
            <a:solidFill>
              <a:srgbClr val="065A8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48640" y="39822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097280" y="3927348"/>
            <a:ext cx="1042416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all products and which orders included them, including products never ordered (RIGHT JOIN)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1097280" y="5072634"/>
            <a:ext cx="10332720" cy="0"/>
          </a:xfrm>
          <a:prstGeom prst="line">
            <a:avLst/>
          </a:prstGeom>
          <a:noFill/>
          <a:ln w="12700">
            <a:solidFill>
              <a:srgbClr val="DDE6E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48640" y="5182362"/>
            <a:ext cx="384048" cy="384048"/>
          </a:xfrm>
          <a:prstGeom prst="ellipse">
            <a:avLst/>
          </a:prstGeom>
          <a:solidFill>
            <a:srgbClr val="F4F8FA"/>
          </a:solidFill>
          <a:ln w="15875">
            <a:solidFill>
              <a:srgbClr val="065A8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48640" y="518236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1097280" y="5127498"/>
            <a:ext cx="1042416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order details with product names and prices joined in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roundRect">
            <a:avLst>
              <a:gd name="adj" fmla="val 18667"/>
            </a:avLst>
          </a:prstGeom>
          <a:solidFill>
            <a:srgbClr val="065A82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621792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38404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Subqueries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1417320" y="86868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queries to answer multi-step questions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9966960" y="502920"/>
            <a:ext cx="1691640" cy="548640"/>
          </a:xfrm>
          <a:prstGeom prst="roundRect">
            <a:avLst>
              <a:gd name="adj" fmla="val 50000"/>
            </a:avLst>
          </a:prstGeom>
          <a:solidFill>
            <a:srgbClr val="E8F1F5"/>
          </a:solidFill>
          <a:ln/>
        </p:spPr>
      </p:sp>
      <p:sp>
        <p:nvSpPr>
          <p:cNvPr id="7" name="Text 4"/>
          <p:cNvSpPr/>
          <p:nvPr/>
        </p:nvSpPr>
        <p:spPr>
          <a:xfrm>
            <a:off x="9966960" y="5029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Subqueries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1581912"/>
            <a:ext cx="384048" cy="384048"/>
          </a:xfrm>
          <a:prstGeom prst="ellipse">
            <a:avLst/>
          </a:prstGeom>
          <a:solidFill>
            <a:srgbClr val="F4F8FA"/>
          </a:solidFill>
          <a:ln w="15875">
            <a:solidFill>
              <a:srgbClr val="065A8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1581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097280" y="1527048"/>
            <a:ext cx="10424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customers who have never placed an order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1097280" y="3072384"/>
            <a:ext cx="10332720" cy="0"/>
          </a:xfrm>
          <a:prstGeom prst="line">
            <a:avLst/>
          </a:prstGeom>
          <a:noFill/>
          <a:ln w="12700">
            <a:solidFill>
              <a:srgbClr val="DDE6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48640" y="3182112"/>
            <a:ext cx="384048" cy="384048"/>
          </a:xfrm>
          <a:prstGeom prst="ellipse">
            <a:avLst/>
          </a:prstGeom>
          <a:solidFill>
            <a:srgbClr val="F4F8FA"/>
          </a:solidFill>
          <a:ln w="15875">
            <a:solidFill>
              <a:srgbClr val="065A8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8640" y="3182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097280" y="3127248"/>
            <a:ext cx="10424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products priced above the average product price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1097280" y="4672584"/>
            <a:ext cx="10332720" cy="0"/>
          </a:xfrm>
          <a:prstGeom prst="line">
            <a:avLst/>
          </a:prstGeom>
          <a:noFill/>
          <a:ln w="12700">
            <a:solidFill>
              <a:srgbClr val="DDE6E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48640" y="4782312"/>
            <a:ext cx="384048" cy="384048"/>
          </a:xfrm>
          <a:prstGeom prst="ellipse">
            <a:avLst/>
          </a:prstGeom>
          <a:solidFill>
            <a:srgbClr val="F4F8FA"/>
          </a:solidFill>
          <a:ln w="15875">
            <a:solidFill>
              <a:srgbClr val="065A8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48640" y="4782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097280" y="4727448"/>
            <a:ext cx="10424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customer who placed the highest number of orders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roundRect">
            <a:avLst>
              <a:gd name="adj" fmla="val 18667"/>
            </a:avLst>
          </a:prstGeom>
          <a:solidFill>
            <a:srgbClr val="065A82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621792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38404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Aggregate Functions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1417320" y="86868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SUM, AVG, and COUNT to summarize business metrics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9966960" y="502920"/>
            <a:ext cx="1691640" cy="548640"/>
          </a:xfrm>
          <a:prstGeom prst="roundRect">
            <a:avLst>
              <a:gd name="adj" fmla="val 50000"/>
            </a:avLst>
          </a:prstGeom>
          <a:solidFill>
            <a:srgbClr val="E8F1F5"/>
          </a:solidFill>
          <a:ln/>
        </p:spPr>
      </p:sp>
      <p:sp>
        <p:nvSpPr>
          <p:cNvPr id="7" name="Text 4"/>
          <p:cNvSpPr/>
          <p:nvPr/>
        </p:nvSpPr>
        <p:spPr>
          <a:xfrm>
            <a:off x="9966960" y="5029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Aggregation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1581912"/>
            <a:ext cx="384048" cy="384048"/>
          </a:xfrm>
          <a:prstGeom prst="ellipse">
            <a:avLst/>
          </a:prstGeom>
          <a:solidFill>
            <a:srgbClr val="F4F8FA"/>
          </a:solidFill>
          <a:ln w="15875">
            <a:solidFill>
              <a:srgbClr val="065A8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1581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097280" y="1527048"/>
            <a:ext cx="1042416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 generated (SUM of order values)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1097280" y="2672334"/>
            <a:ext cx="10332720" cy="0"/>
          </a:xfrm>
          <a:prstGeom prst="line">
            <a:avLst/>
          </a:prstGeom>
          <a:noFill/>
          <a:ln w="12700">
            <a:solidFill>
              <a:srgbClr val="DDE6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48640" y="2782062"/>
            <a:ext cx="384048" cy="384048"/>
          </a:xfrm>
          <a:prstGeom prst="ellipse">
            <a:avLst/>
          </a:prstGeom>
          <a:solidFill>
            <a:srgbClr val="F4F8FA"/>
          </a:solidFill>
          <a:ln w="15875">
            <a:solidFill>
              <a:srgbClr val="065A8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8640" y="278206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097280" y="2727198"/>
            <a:ext cx="1042416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order value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1097280" y="3872484"/>
            <a:ext cx="10332720" cy="0"/>
          </a:xfrm>
          <a:prstGeom prst="line">
            <a:avLst/>
          </a:prstGeom>
          <a:noFill/>
          <a:ln w="12700">
            <a:solidFill>
              <a:srgbClr val="DDE6E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48640" y="3982212"/>
            <a:ext cx="384048" cy="384048"/>
          </a:xfrm>
          <a:prstGeom prst="ellipse">
            <a:avLst/>
          </a:prstGeom>
          <a:solidFill>
            <a:srgbClr val="F4F8FA"/>
          </a:solidFill>
          <a:ln w="15875">
            <a:solidFill>
              <a:srgbClr val="065A8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48640" y="39822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097280" y="3927348"/>
            <a:ext cx="1042416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number of orders per customer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1097280" y="5072634"/>
            <a:ext cx="10332720" cy="0"/>
          </a:xfrm>
          <a:prstGeom prst="line">
            <a:avLst/>
          </a:prstGeom>
          <a:noFill/>
          <a:ln w="12700">
            <a:solidFill>
              <a:srgbClr val="DDE6E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48640" y="5182362"/>
            <a:ext cx="384048" cy="384048"/>
          </a:xfrm>
          <a:prstGeom prst="ellipse">
            <a:avLst/>
          </a:prstGeom>
          <a:solidFill>
            <a:srgbClr val="F4F8FA"/>
          </a:solidFill>
          <a:ln w="15875">
            <a:solidFill>
              <a:srgbClr val="065A8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48640" y="518236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1097280" y="5127498"/>
            <a:ext cx="1042416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product category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Views &amp; Indexes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analysis views and query optimization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486400" cy="4572000"/>
          </a:xfrm>
          <a:prstGeom prst="roundRect">
            <a:avLst>
              <a:gd name="adj" fmla="val 2000"/>
            </a:avLst>
          </a:prstGeom>
          <a:solidFill>
            <a:srgbClr val="F4F8FA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78308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7830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Views  ·  05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68680" y="2331720"/>
            <a:ext cx="457200" cy="457200"/>
          </a:xfrm>
          <a:prstGeom prst="rect">
            <a:avLst/>
          </a:prstGeom>
          <a:solidFill>
            <a:srgbClr val="065A8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508760" y="2286000"/>
            <a:ext cx="4343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customer_order_summary</a:t>
            </a:r>
            <a:endParaRPr lang="en-US" sz="14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 + total spend per customer, joining all three tables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68680" y="3337560"/>
            <a:ext cx="457200" cy="457200"/>
          </a:xfrm>
          <a:prstGeom prst="rect">
            <a:avLst/>
          </a:prstGeom>
          <a:solidFill>
            <a:srgbClr val="065A8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508760" y="3291840"/>
            <a:ext cx="4343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top_selling_products</a:t>
            </a:r>
            <a:endParaRPr lang="en-US" sz="14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ranked by total quantity sold, descending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868680" y="4343400"/>
            <a:ext cx="4892040" cy="0"/>
          </a:xfrm>
          <a:prstGeom prst="line">
            <a:avLst/>
          </a:prstGeom>
          <a:noFill/>
          <a:ln w="12700">
            <a:solidFill>
              <a:srgbClr val="DDE6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4526280"/>
            <a:ext cx="4892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views? They save a complex query as a reusable virtual table — ideal for dashboarding later.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263640" y="1508760"/>
            <a:ext cx="5394960" cy="4572000"/>
          </a:xfrm>
          <a:prstGeom prst="roundRect">
            <a:avLst>
              <a:gd name="adj" fmla="val 2000"/>
            </a:avLst>
          </a:prstGeom>
          <a:solidFill>
            <a:srgbClr val="F4F8FA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178308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086600" y="17830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Indexes  ·  06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6583680" y="2331720"/>
            <a:ext cx="457200" cy="457200"/>
          </a:xfrm>
          <a:prstGeom prst="rect">
            <a:avLst/>
          </a:prstGeom>
          <a:solidFill>
            <a:srgbClr val="065A8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7223760" y="2286000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Indexed orders.customer_id</a:t>
            </a:r>
            <a:endParaRPr lang="en-US" sz="14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5B6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INDEX idx_customer_id ON orders(customer_id(20))</a:t>
            </a:r>
            <a:endParaRPr lang="en-US" sz="1450" dirty="0"/>
          </a:p>
        </p:txBody>
      </p:sp>
      <p:sp>
        <p:nvSpPr>
          <p:cNvPr id="18" name="Text 14"/>
          <p:cNvSpPr/>
          <p:nvPr/>
        </p:nvSpPr>
        <p:spPr>
          <a:xfrm>
            <a:off x="6583680" y="3337560"/>
            <a:ext cx="457200" cy="457200"/>
          </a:xfrm>
          <a:prstGeom prst="rect">
            <a:avLst/>
          </a:prstGeom>
          <a:solidFill>
            <a:srgbClr val="065A8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7223760" y="3291840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with EXPLAIN</a:t>
            </a:r>
            <a:endParaRPr lang="en-US" sz="14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optimizer now uses the index (type: ref) instead of a full table scan</a:t>
            </a:r>
            <a:endParaRPr lang="en-US" sz="1450" dirty="0"/>
          </a:p>
        </p:txBody>
      </p:sp>
      <p:sp>
        <p:nvSpPr>
          <p:cNvPr id="20" name="Shape 16"/>
          <p:cNvSpPr/>
          <p:nvPr/>
        </p:nvSpPr>
        <p:spPr>
          <a:xfrm>
            <a:off x="6583680" y="4343400"/>
            <a:ext cx="4892040" cy="0"/>
          </a:xfrm>
          <a:prstGeom prst="line">
            <a:avLst/>
          </a:prstGeom>
          <a:noFill/>
          <a:ln w="12700">
            <a:solidFill>
              <a:srgbClr val="DDE6EA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583680" y="4526280"/>
            <a:ext cx="4892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 </a:t>
            </a:r>
            <a:r>
              <a:rPr lang="en-US" sz="12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= ALL (full scan)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   </a:t>
            </a:r>
            <a:r>
              <a:rPr lang="en-US" sz="12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= ref, rows = 1 (index lookup)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065A82">
              <a:alpha val="2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C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across all 6 concept areas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3520440" cy="1691640"/>
          </a:xfrm>
          <a:prstGeom prst="roundRect">
            <a:avLst>
              <a:gd name="adj" fmla="val 5405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05740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914400" y="30175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7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 &amp; Sorting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34840" y="1874520"/>
            <a:ext cx="3520440" cy="1691640"/>
          </a:xfrm>
          <a:prstGeom prst="roundRect">
            <a:avLst>
              <a:gd name="adj" fmla="val 5405"/>
            </a:avLst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4709160" y="205740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4709160" y="30175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7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0" y="1874520"/>
            <a:ext cx="3520440" cy="1691640"/>
          </a:xfrm>
          <a:prstGeom prst="roundRect">
            <a:avLst>
              <a:gd name="adj" fmla="val 5405"/>
            </a:avLst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8503920" y="205740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8503920" y="30175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7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Subqueries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3840480"/>
            <a:ext cx="3520440" cy="1691640"/>
          </a:xfrm>
          <a:prstGeom prst="roundRect">
            <a:avLst>
              <a:gd name="adj" fmla="val 5405"/>
            </a:avLst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02336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200" dirty="0"/>
          </a:p>
        </p:txBody>
      </p:sp>
      <p:sp>
        <p:nvSpPr>
          <p:cNvPr id="16" name="Text 14"/>
          <p:cNvSpPr/>
          <p:nvPr/>
        </p:nvSpPr>
        <p:spPr>
          <a:xfrm>
            <a:off x="914400" y="49834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7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Functions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434840" y="3840480"/>
            <a:ext cx="3520440" cy="1691640"/>
          </a:xfrm>
          <a:prstGeom prst="roundRect">
            <a:avLst>
              <a:gd name="adj" fmla="val 5405"/>
            </a:avLst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4709160" y="402336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200" dirty="0"/>
          </a:p>
        </p:txBody>
      </p:sp>
      <p:sp>
        <p:nvSpPr>
          <p:cNvPr id="19" name="Text 17"/>
          <p:cNvSpPr/>
          <p:nvPr/>
        </p:nvSpPr>
        <p:spPr>
          <a:xfrm>
            <a:off x="4709160" y="49834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7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229600" y="3840480"/>
            <a:ext cx="3520440" cy="1691640"/>
          </a:xfrm>
          <a:prstGeom prst="roundRect">
            <a:avLst>
              <a:gd name="adj" fmla="val 5405"/>
            </a:avLst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8503920" y="402336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200" dirty="0"/>
          </a:p>
        </p:txBody>
      </p:sp>
      <p:sp>
        <p:nvSpPr>
          <p:cNvPr id="22" name="Text 20"/>
          <p:cNvSpPr/>
          <p:nvPr/>
        </p:nvSpPr>
        <p:spPr>
          <a:xfrm>
            <a:off x="8503920" y="49834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7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 &amp; EXPLAIN</a:t>
            </a:r>
            <a:endParaRPr lang="en-US" sz="1400" dirty="0"/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6080760"/>
            <a:ext cx="274320" cy="27432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005840" y="6035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19 queries completed  :  UrbanCart E-Commerce SQL Database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503</Words>
  <Application>Microsoft Office PowerPoint</Application>
  <PresentationFormat>Widescreen</PresentationFormat>
  <Paragraphs>116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Task 4: SQL for Data Analysis</dc:title>
  <dc:subject>PptxGenJS Presentation</dc:subject>
  <dc:creator>Aafra</dc:creator>
  <cp:lastModifiedBy>Aafra Khan</cp:lastModifiedBy>
  <cp:revision>2</cp:revision>
  <dcterms:created xsi:type="dcterms:W3CDTF">2026-07-03T11:48:00Z</dcterms:created>
  <dcterms:modified xsi:type="dcterms:W3CDTF">2026-07-03T11:52:14Z</dcterms:modified>
</cp:coreProperties>
</file>